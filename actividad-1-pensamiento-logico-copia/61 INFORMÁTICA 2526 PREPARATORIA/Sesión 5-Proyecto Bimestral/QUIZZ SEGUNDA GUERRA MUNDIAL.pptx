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League Spartan" pitchFamily="2" charset="77"/>
      <p:regular r:id="rId11"/>
      <p:bold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Open Sauce" pitchFamily="2" charset="77"/>
      <p:regular r:id="rId17"/>
    </p:embeddedFont>
    <p:embeddedFont>
      <p:font typeface="Open Sauce Bold" pitchFamily="2" charset="7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72" autoAdjust="0"/>
  </p:normalViewPr>
  <p:slideViewPr>
    <p:cSldViewPr>
      <p:cViewPr>
        <p:scale>
          <a:sx n="24" d="100"/>
          <a:sy n="24" d="100"/>
        </p:scale>
        <p:origin x="3288" y="16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rlafrancohdz/quiz_historia.py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02" y="0"/>
            <a:ext cx="387799" cy="3150528"/>
            <a:chOff x="0" y="0"/>
            <a:chExt cx="102136" cy="8297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136" cy="829769"/>
            </a:xfrm>
            <a:custGeom>
              <a:avLst/>
              <a:gdLst/>
              <a:ahLst/>
              <a:cxnLst/>
              <a:rect l="l" t="t" r="r" b="b"/>
              <a:pathLst>
                <a:path w="102136" h="829769">
                  <a:moveTo>
                    <a:pt x="0" y="0"/>
                  </a:moveTo>
                  <a:lnTo>
                    <a:pt x="102136" y="0"/>
                  </a:lnTo>
                  <a:lnTo>
                    <a:pt x="102136" y="829769"/>
                  </a:lnTo>
                  <a:lnTo>
                    <a:pt x="0" y="829769"/>
                  </a:lnTo>
                  <a:close/>
                </a:path>
              </a:pathLst>
            </a:custGeom>
            <a:solidFill>
              <a:srgbClr val="8EBFE3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02136" cy="84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80170" y="1400017"/>
            <a:ext cx="11560230" cy="9039383"/>
            <a:chOff x="0" y="0"/>
            <a:chExt cx="3044670" cy="2380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44670" cy="2380743"/>
            </a:xfrm>
            <a:custGeom>
              <a:avLst/>
              <a:gdLst/>
              <a:ahLst/>
              <a:cxnLst/>
              <a:rect l="l" t="t" r="r" b="b"/>
              <a:pathLst>
                <a:path w="3044670" h="2380743">
                  <a:moveTo>
                    <a:pt x="0" y="0"/>
                  </a:moveTo>
                  <a:lnTo>
                    <a:pt x="3044670" y="0"/>
                  </a:lnTo>
                  <a:lnTo>
                    <a:pt x="3044670" y="2380743"/>
                  </a:lnTo>
                  <a:lnTo>
                    <a:pt x="0" y="2380743"/>
                  </a:lnTo>
                  <a:close/>
                </a:path>
              </a:pathLst>
            </a:custGeom>
            <a:solidFill>
              <a:srgbClr val="F1A9A9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3044670" cy="2399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921677" y="7136472"/>
            <a:ext cx="518723" cy="3302928"/>
            <a:chOff x="0" y="0"/>
            <a:chExt cx="96480" cy="8297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480" cy="829769"/>
            </a:xfrm>
            <a:custGeom>
              <a:avLst/>
              <a:gdLst/>
              <a:ahLst/>
              <a:cxnLst/>
              <a:rect l="l" t="t" r="r" b="b"/>
              <a:pathLst>
                <a:path w="96480" h="829769">
                  <a:moveTo>
                    <a:pt x="0" y="0"/>
                  </a:moveTo>
                  <a:lnTo>
                    <a:pt x="96480" y="0"/>
                  </a:lnTo>
                  <a:lnTo>
                    <a:pt x="96480" y="829769"/>
                  </a:lnTo>
                  <a:lnTo>
                    <a:pt x="0" y="829769"/>
                  </a:lnTo>
                  <a:close/>
                </a:path>
              </a:pathLst>
            </a:custGeom>
            <a:solidFill>
              <a:srgbClr val="8EBFE3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96480" cy="84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700556" y="2701800"/>
            <a:ext cx="4966223" cy="44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3194" b="1" spc="-31">
                <a:solidFill>
                  <a:srgbClr val="0B324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PROYECTO BIMESTRAL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00556" y="8326754"/>
            <a:ext cx="9650547" cy="93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 spc="701">
                <a:solidFill>
                  <a:srgbClr val="0B324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CARLA M FRANCO HERNÁNDEZ 6010 </a:t>
            </a:r>
          </a:p>
          <a:p>
            <a:pPr marL="0" lvl="0" indent="0" algn="l">
              <a:lnSpc>
                <a:spcPts val="3779"/>
              </a:lnSpc>
            </a:pPr>
            <a:r>
              <a:rPr lang="en-US" sz="2699" b="1" spc="701">
                <a:solidFill>
                  <a:srgbClr val="0B324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PROFESOR LUIS A. MARTÍNEZ ALFARO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78438" y="3448897"/>
            <a:ext cx="9694781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99"/>
              </a:lnSpc>
              <a:spcBef>
                <a:spcPct val="0"/>
              </a:spcBef>
            </a:pPr>
            <a:r>
              <a:rPr lang="en-US" sz="7499" spc="-74">
                <a:solidFill>
                  <a:srgbClr val="0B324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QUIZZ SEGUNDA GUERRA MUNDIAL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014759"/>
            <a:ext cx="17775663" cy="4924492"/>
            <a:chOff x="0" y="0"/>
            <a:chExt cx="4681656" cy="1296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656" cy="1296985"/>
            </a:xfrm>
            <a:custGeom>
              <a:avLst/>
              <a:gdLst/>
              <a:ahLst/>
              <a:cxnLst/>
              <a:rect l="l" t="t" r="r" b="b"/>
              <a:pathLst>
                <a:path w="4681656" h="1296985">
                  <a:moveTo>
                    <a:pt x="0" y="0"/>
                  </a:moveTo>
                  <a:lnTo>
                    <a:pt x="4681656" y="0"/>
                  </a:lnTo>
                  <a:lnTo>
                    <a:pt x="4681656" y="1296985"/>
                  </a:lnTo>
                  <a:lnTo>
                    <a:pt x="0" y="1296985"/>
                  </a:lnTo>
                  <a:close/>
                </a:path>
              </a:pathLst>
            </a:custGeom>
            <a:solidFill>
              <a:srgbClr val="8EBFE3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681656" cy="1316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42173" y="5387192"/>
            <a:ext cx="6388631" cy="334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99" u="none" strike="noStrike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scogí la Segunda Guerra Mundial como tema del quiz por ser uno de los acontecimientos más relevantes del siglo XX, cuenta con un impacto político, económico y social a nivel mundial. Al realizar el quiz se permite reforzar conocimientos históricos de manera interactiva. 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u="none" strike="noStrike">
              <a:solidFill>
                <a:srgbClr val="02192A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54780" y="5387192"/>
            <a:ext cx="6922560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Desarrollar un QUIZ histórico en Python (consola) de 20 preguntas, tomando como base el código plantilla proporcionado (imagen QUIZZ.png). El proyecto integrará programación (condicionales, bucles, validaciones), investigación histórica y comunicación (presentación oral y escrita).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endParaRPr lang="en-US" sz="2499">
              <a:solidFill>
                <a:srgbClr val="02192A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42173" y="4577715"/>
            <a:ext cx="4802069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999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JUSTIFICACIÓN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54780" y="4666149"/>
            <a:ext cx="4802069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999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OBJETIVO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114425"/>
            <a:ext cx="11954658" cy="2119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78"/>
              </a:lnSpc>
              <a:spcBef>
                <a:spcPct val="0"/>
              </a:spcBef>
            </a:pPr>
            <a:r>
              <a:rPr lang="en-US" sz="7664" spc="-76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JUSTIFICACIÓN Y OBJETIVOS DEL QUIZ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900201" y="0"/>
            <a:ext cx="904162" cy="10287000"/>
            <a:chOff x="0" y="0"/>
            <a:chExt cx="107860" cy="27093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860" cy="2709333"/>
            </a:xfrm>
            <a:custGeom>
              <a:avLst/>
              <a:gdLst/>
              <a:ahLst/>
              <a:cxnLst/>
              <a:rect l="l" t="t" r="r" b="b"/>
              <a:pathLst>
                <a:path w="107860" h="2709333">
                  <a:moveTo>
                    <a:pt x="0" y="0"/>
                  </a:moveTo>
                  <a:lnTo>
                    <a:pt x="107860" y="0"/>
                  </a:lnTo>
                  <a:lnTo>
                    <a:pt x="1078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A9A9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07860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039371"/>
            <a:ext cx="17775663" cy="4924492"/>
            <a:chOff x="0" y="0"/>
            <a:chExt cx="4681656" cy="1296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656" cy="1296985"/>
            </a:xfrm>
            <a:custGeom>
              <a:avLst/>
              <a:gdLst/>
              <a:ahLst/>
              <a:cxnLst/>
              <a:rect l="l" t="t" r="r" b="b"/>
              <a:pathLst>
                <a:path w="4681656" h="1296985">
                  <a:moveTo>
                    <a:pt x="0" y="0"/>
                  </a:moveTo>
                  <a:lnTo>
                    <a:pt x="4681656" y="0"/>
                  </a:lnTo>
                  <a:lnTo>
                    <a:pt x="4681656" y="1296985"/>
                  </a:lnTo>
                  <a:lnTo>
                    <a:pt x="0" y="1296985"/>
                  </a:lnTo>
                  <a:close/>
                </a:path>
              </a:pathLst>
            </a:custGeom>
            <a:solidFill>
              <a:srgbClr val="8EBFE3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681656" cy="1316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93513" y="5301222"/>
            <a:ext cx="10893195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499" lvl="2" indent="-359833" algn="l">
              <a:lnSpc>
                <a:spcPts val="29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Conc</a:t>
            </a:r>
            <a:r>
              <a:rPr lang="en-US" sz="2499" u="none" strike="noStrike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epto (2025)</a:t>
            </a:r>
          </a:p>
          <a:p>
            <a:pPr marL="1079499" lvl="2" indent="-359833" algn="l">
              <a:lnSpc>
                <a:spcPts val="29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 u="none" strike="noStrike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National Geographic (2023) (2024) (2025)</a:t>
            </a:r>
          </a:p>
          <a:p>
            <a:pPr marL="1079499" lvl="2" indent="-359833" algn="l">
              <a:lnSpc>
                <a:spcPts val="29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 u="none" strike="noStrike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Historia National Geographic (2021) (2024) (2024)</a:t>
            </a:r>
          </a:p>
          <a:p>
            <a:pPr marL="1079499" lvl="2" indent="-359833" algn="l">
              <a:lnSpc>
                <a:spcPts val="29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 u="none" strike="noStrike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Portal Académico del CCH-UNAM (2017)</a:t>
            </a:r>
          </a:p>
          <a:p>
            <a:pPr marL="1079499" lvl="2" indent="-359833" algn="l">
              <a:lnSpc>
                <a:spcPts val="29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 u="none" strike="noStrike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United Nations (s. f.)</a:t>
            </a:r>
          </a:p>
          <a:p>
            <a:pPr marL="1079499" lvl="2" indent="-359833" algn="l">
              <a:lnSpc>
                <a:spcPts val="29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 u="none" strike="noStrike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Cancillería de Colombia (s. f.)</a:t>
            </a:r>
          </a:p>
          <a:p>
            <a:pPr marL="1079499" lvl="2" indent="-359833" algn="l">
              <a:lnSpc>
                <a:spcPts val="29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 u="none" strike="noStrike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History Hit (Sherrin, s. f.)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2499" u="none" strike="noStrike">
              <a:solidFill>
                <a:srgbClr val="02192A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42173" y="4577715"/>
            <a:ext cx="4802069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999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FUENTES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36489" y="1114425"/>
            <a:ext cx="12122811" cy="212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278"/>
              </a:lnSpc>
              <a:spcBef>
                <a:spcPct val="0"/>
              </a:spcBef>
            </a:pPr>
            <a:r>
              <a:rPr lang="en-US" sz="7664" spc="-76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PROCESO DE INVESTIGACIÓN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1"/>
            <a:ext cx="512337" cy="10287000"/>
            <a:chOff x="0" y="0"/>
            <a:chExt cx="107860" cy="27924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860" cy="2792413"/>
            </a:xfrm>
            <a:custGeom>
              <a:avLst/>
              <a:gdLst/>
              <a:ahLst/>
              <a:cxnLst/>
              <a:rect l="l" t="t" r="r" b="b"/>
              <a:pathLst>
                <a:path w="107860" h="2792413">
                  <a:moveTo>
                    <a:pt x="0" y="0"/>
                  </a:moveTo>
                  <a:lnTo>
                    <a:pt x="107860" y="0"/>
                  </a:lnTo>
                  <a:lnTo>
                    <a:pt x="107860" y="2792413"/>
                  </a:lnTo>
                  <a:lnTo>
                    <a:pt x="0" y="2792413"/>
                  </a:lnTo>
                  <a:close/>
                </a:path>
              </a:pathLst>
            </a:custGeom>
            <a:solidFill>
              <a:srgbClr val="F1A9A9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07860" cy="2811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513078" y="4577715"/>
            <a:ext cx="7746222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999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CRITERIOS DE VERIFICACIÓN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28676" y="5301222"/>
            <a:ext cx="6388631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99" u="none" strike="noStrike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e buscaron fuentes académicas y de divulgación, como en páginas oficiales y se verifico en varias fuentes para su veracidad. </a:t>
            </a:r>
          </a:p>
          <a:p>
            <a:pPr marL="0" lvl="0" indent="0" algn="r">
              <a:lnSpc>
                <a:spcPts val="2999"/>
              </a:lnSpc>
              <a:spcBef>
                <a:spcPct val="0"/>
              </a:spcBef>
            </a:pPr>
            <a:endParaRPr lang="en-US" sz="2499" u="none" strike="noStrike">
              <a:solidFill>
                <a:srgbClr val="02192A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1" y="4014759"/>
            <a:ext cx="17259300" cy="4924492"/>
            <a:chOff x="0" y="0"/>
            <a:chExt cx="4681656" cy="1296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656" cy="1296985"/>
            </a:xfrm>
            <a:custGeom>
              <a:avLst/>
              <a:gdLst/>
              <a:ahLst/>
              <a:cxnLst/>
              <a:rect l="l" t="t" r="r" b="b"/>
              <a:pathLst>
                <a:path w="4681656" h="1296985">
                  <a:moveTo>
                    <a:pt x="0" y="0"/>
                  </a:moveTo>
                  <a:lnTo>
                    <a:pt x="4681656" y="0"/>
                  </a:lnTo>
                  <a:lnTo>
                    <a:pt x="4681656" y="1296985"/>
                  </a:lnTo>
                  <a:lnTo>
                    <a:pt x="0" y="1296985"/>
                  </a:lnTo>
                  <a:close/>
                </a:path>
              </a:pathLst>
            </a:custGeom>
            <a:solidFill>
              <a:srgbClr val="8EBFE3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681656" cy="1316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42173" y="5548318"/>
            <a:ext cx="6388631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Lista de 20 preguntas con 4 opciones, de las cuales solo una es correcta.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Pregunta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Opciones de a, b, c, d</a:t>
            </a:r>
          </a:p>
          <a:p>
            <a:pPr marL="539749" lvl="1" indent="-269875" algn="l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Respuesta correcta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42173" y="4577715"/>
            <a:ext cx="7746222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999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ESTRUCTURA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158683"/>
            <a:ext cx="11954658" cy="107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78"/>
              </a:lnSpc>
              <a:spcBef>
                <a:spcPct val="0"/>
              </a:spcBef>
            </a:pPr>
            <a:r>
              <a:rPr lang="en-US" sz="7664" spc="-76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DISEÑO DEL QUIZZ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678064" y="3266"/>
            <a:ext cx="609935" cy="10287000"/>
            <a:chOff x="0" y="0"/>
            <a:chExt cx="107860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860" cy="2709333"/>
            </a:xfrm>
            <a:custGeom>
              <a:avLst/>
              <a:gdLst/>
              <a:ahLst/>
              <a:cxnLst/>
              <a:rect l="l" t="t" r="r" b="b"/>
              <a:pathLst>
                <a:path w="107860" h="2709333">
                  <a:moveTo>
                    <a:pt x="0" y="0"/>
                  </a:moveTo>
                  <a:lnTo>
                    <a:pt x="107860" y="0"/>
                  </a:lnTo>
                  <a:lnTo>
                    <a:pt x="1078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A9A9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07860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513078" y="4577715"/>
            <a:ext cx="7746222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319"/>
              </a:lnSpc>
              <a:spcBef>
                <a:spcPct val="0"/>
              </a:spcBef>
            </a:pPr>
            <a:r>
              <a:rPr lang="en-US" sz="3999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VALIDACIÓNES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70669" y="5614885"/>
            <a:ext cx="6388631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Al ser de opción múltiple, solo una respuesta es correcta e inmediatamente te bota el resultado y si es incorrecta te da la “retroalimentación”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07604"/>
            <a:ext cx="9624713" cy="10394604"/>
            <a:chOff x="0" y="0"/>
            <a:chExt cx="2534904" cy="2737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34904" cy="2737673"/>
            </a:xfrm>
            <a:custGeom>
              <a:avLst/>
              <a:gdLst/>
              <a:ahLst/>
              <a:cxnLst/>
              <a:rect l="l" t="t" r="r" b="b"/>
              <a:pathLst>
                <a:path w="2534904" h="2737673">
                  <a:moveTo>
                    <a:pt x="0" y="0"/>
                  </a:moveTo>
                  <a:lnTo>
                    <a:pt x="2534904" y="0"/>
                  </a:lnTo>
                  <a:lnTo>
                    <a:pt x="2534904" y="2737673"/>
                  </a:lnTo>
                  <a:lnTo>
                    <a:pt x="0" y="2737673"/>
                  </a:lnTo>
                  <a:close/>
                </a:path>
              </a:pathLst>
            </a:custGeom>
            <a:solidFill>
              <a:srgbClr val="8EBFE3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534904" cy="2756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808120" y="5181600"/>
            <a:ext cx="6451180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319"/>
              </a:lnSpc>
              <a:spcBef>
                <a:spcPct val="0"/>
              </a:spcBef>
            </a:pPr>
            <a:r>
              <a:rPr lang="en-US" sz="3999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DIAGRAMA DE FLUJO DEL QUIZZ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90119" y="2614084"/>
            <a:ext cx="6069181" cy="212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278"/>
              </a:lnSpc>
              <a:spcBef>
                <a:spcPct val="0"/>
              </a:spcBef>
            </a:pPr>
            <a:r>
              <a:rPr lang="en-US" sz="7664" spc="-76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DISEÑO DEL QUIZ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107604"/>
            <a:ext cx="604450" cy="10394605"/>
            <a:chOff x="0" y="0"/>
            <a:chExt cx="107860" cy="27924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860" cy="2792413"/>
            </a:xfrm>
            <a:custGeom>
              <a:avLst/>
              <a:gdLst/>
              <a:ahLst/>
              <a:cxnLst/>
              <a:rect l="l" t="t" r="r" b="b"/>
              <a:pathLst>
                <a:path w="107860" h="2792413">
                  <a:moveTo>
                    <a:pt x="0" y="0"/>
                  </a:moveTo>
                  <a:lnTo>
                    <a:pt x="107860" y="0"/>
                  </a:lnTo>
                  <a:lnTo>
                    <a:pt x="107860" y="2792413"/>
                  </a:lnTo>
                  <a:lnTo>
                    <a:pt x="0" y="2792413"/>
                  </a:lnTo>
                  <a:close/>
                </a:path>
              </a:pathLst>
            </a:custGeom>
            <a:solidFill>
              <a:srgbClr val="F1A9A9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07860" cy="2811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495300"/>
            <a:ext cx="8752579" cy="9534024"/>
            <a:chOff x="0" y="-38100"/>
            <a:chExt cx="11670105" cy="12712032"/>
          </a:xfrm>
        </p:grpSpPr>
        <p:sp>
          <p:nvSpPr>
            <p:cNvPr id="11" name="TextBox 11"/>
            <p:cNvSpPr txBox="1"/>
            <p:nvPr/>
          </p:nvSpPr>
          <p:spPr>
            <a:xfrm>
              <a:off x="1548737" y="-38100"/>
              <a:ext cx="1683687" cy="464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INICIO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37148"/>
              <a:ext cx="4822983" cy="9600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MOSTRAR INSTRUCCIONES</a:t>
              </a:r>
            </a:p>
            <a:p>
              <a:pPr algn="ctr">
                <a:lnSpc>
                  <a:spcPts val="2930"/>
                </a:lnSpc>
              </a:pPr>
              <a:r>
                <a:rPr lang="en-US" sz="2093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(EN CADA PREGUNTA)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5665" y="2603095"/>
              <a:ext cx="3785029" cy="952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MOSTRAR PREGUNTAS Y OPCIÓNES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5665" y="4124396"/>
              <a:ext cx="3785029" cy="952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CONTESTAR Y DAR ENTER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83902" y="4348772"/>
              <a:ext cx="3785029" cy="45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¿ES CORRECTA?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22982" y="5607055"/>
              <a:ext cx="3785029" cy="45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26553" y="3095643"/>
              <a:ext cx="3785029" cy="45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31491" y="5602573"/>
              <a:ext cx="3785029" cy="45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SUMA EL PUNTO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85076" y="3182904"/>
              <a:ext cx="3785029" cy="952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MOSTRAR RESPUESTA CORRECTA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1711" y="5696836"/>
              <a:ext cx="3785029" cy="952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SIGUE EL CUESTIONARIO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2949" y="7232839"/>
              <a:ext cx="3785029" cy="952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TERMINAR EL CUESTIONARIO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2949" y="8837051"/>
              <a:ext cx="3785029" cy="952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CALCULAR PUNTAJE FINAL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1711" y="11607492"/>
              <a:ext cx="3785029" cy="45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REPETIR QUIZZ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1711" y="10468545"/>
              <a:ext cx="3785029" cy="45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MOSTRAR RESULTADO</a:t>
              </a: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2286321" y="383561"/>
              <a:ext cx="0" cy="553587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2240897" y="3581628"/>
              <a:ext cx="0" cy="553586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2268180" y="5116354"/>
              <a:ext cx="0" cy="553586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2295463" y="6676429"/>
              <a:ext cx="0" cy="553586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2295463" y="8226074"/>
              <a:ext cx="0" cy="553586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2281822" y="9857568"/>
              <a:ext cx="0" cy="553586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2281822" y="10996515"/>
              <a:ext cx="0" cy="553586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19630" y="11218221"/>
              <a:ext cx="3785029" cy="45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19630" y="12214170"/>
              <a:ext cx="3785029" cy="45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NO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88213" y="11218221"/>
              <a:ext cx="3785029" cy="45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REINICIAR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95703" y="12173646"/>
              <a:ext cx="3785029" cy="459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</a:pPr>
              <a:r>
                <a:rPr lang="en-US" sz="209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FIN</a:t>
              </a:r>
            </a:p>
          </p:txBody>
        </p:sp>
        <p:sp>
          <p:nvSpPr>
            <p:cNvPr id="36" name="AutoShape 36"/>
            <p:cNvSpPr/>
            <p:nvPr/>
          </p:nvSpPr>
          <p:spPr>
            <a:xfrm>
              <a:off x="3700487" y="11953566"/>
              <a:ext cx="1398601" cy="509534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7" name="AutoShape 37"/>
            <p:cNvSpPr/>
            <p:nvPr/>
          </p:nvSpPr>
          <p:spPr>
            <a:xfrm flipV="1">
              <a:off x="3704942" y="11467152"/>
              <a:ext cx="1607497" cy="396978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5974389" y="11467152"/>
              <a:ext cx="1670805" cy="26488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5974716" y="12422577"/>
              <a:ext cx="1671015" cy="0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3883902" y="4630805"/>
              <a:ext cx="553586" cy="0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1" name="AutoShape 41"/>
            <p:cNvSpPr/>
            <p:nvPr/>
          </p:nvSpPr>
          <p:spPr>
            <a:xfrm flipH="1" flipV="1">
              <a:off x="6715496" y="3555405"/>
              <a:ext cx="0" cy="741130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6715496" y="4808534"/>
              <a:ext cx="0" cy="741130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7331491" y="3371857"/>
              <a:ext cx="553586" cy="0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7115345" y="5851504"/>
              <a:ext cx="553586" cy="0"/>
            </a:xfrm>
            <a:prstGeom prst="line">
              <a:avLst/>
            </a:prstGeom>
            <a:ln w="54567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s-ES_tradnl"/>
            </a:p>
          </p:txBody>
        </p:sp>
      </p:grpSp>
      <p:sp>
        <p:nvSpPr>
          <p:cNvPr id="45" name="AutoShape 26">
            <a:extLst>
              <a:ext uri="{FF2B5EF4-FFF2-40B4-BE49-F238E27FC236}">
                <a16:creationId xmlns:a16="http://schemas.microsoft.com/office/drawing/2014/main" id="{B184CE8A-194D-B09F-B2FF-2CC167484F02}"/>
              </a:ext>
            </a:extLst>
          </p:cNvPr>
          <p:cNvSpPr/>
          <p:nvPr/>
        </p:nvSpPr>
        <p:spPr>
          <a:xfrm>
            <a:off x="2403621" y="1946805"/>
            <a:ext cx="0" cy="415190"/>
          </a:xfrm>
          <a:prstGeom prst="line">
            <a:avLst/>
          </a:prstGeom>
          <a:ln w="54567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ES_tradn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1" y="4014759"/>
            <a:ext cx="17259300" cy="4924492"/>
            <a:chOff x="0" y="0"/>
            <a:chExt cx="4681656" cy="1296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656" cy="1296985"/>
            </a:xfrm>
            <a:custGeom>
              <a:avLst/>
              <a:gdLst/>
              <a:ahLst/>
              <a:cxnLst/>
              <a:rect l="l" t="t" r="r" b="b"/>
              <a:pathLst>
                <a:path w="4681656" h="1296985">
                  <a:moveTo>
                    <a:pt x="0" y="0"/>
                  </a:moveTo>
                  <a:lnTo>
                    <a:pt x="4681656" y="0"/>
                  </a:lnTo>
                  <a:lnTo>
                    <a:pt x="4681656" y="1296985"/>
                  </a:lnTo>
                  <a:lnTo>
                    <a:pt x="0" y="1296985"/>
                  </a:lnTo>
                  <a:close/>
                </a:path>
              </a:pathLst>
            </a:custGeom>
            <a:solidFill>
              <a:srgbClr val="8EBFE3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681656" cy="1316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900201" y="0"/>
            <a:ext cx="387799" cy="10287000"/>
            <a:chOff x="0" y="0"/>
            <a:chExt cx="107860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860" cy="2709333"/>
            </a:xfrm>
            <a:custGeom>
              <a:avLst/>
              <a:gdLst/>
              <a:ahLst/>
              <a:cxnLst/>
              <a:rect l="l" t="t" r="r" b="b"/>
              <a:pathLst>
                <a:path w="107860" h="2709333">
                  <a:moveTo>
                    <a:pt x="0" y="0"/>
                  </a:moveTo>
                  <a:lnTo>
                    <a:pt x="107860" y="0"/>
                  </a:lnTo>
                  <a:lnTo>
                    <a:pt x="1078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A9A9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07860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080027" y="4907607"/>
            <a:ext cx="8179273" cy="3138796"/>
          </a:xfrm>
          <a:custGeom>
            <a:avLst/>
            <a:gdLst/>
            <a:ahLst/>
            <a:cxnLst/>
            <a:rect l="l" t="t" r="r" b="b"/>
            <a:pathLst>
              <a:path w="8179273" h="3138796">
                <a:moveTo>
                  <a:pt x="0" y="0"/>
                </a:moveTo>
                <a:lnTo>
                  <a:pt x="8179273" y="0"/>
                </a:lnTo>
                <a:lnTo>
                  <a:pt x="8179273" y="3138796"/>
                </a:lnTo>
                <a:lnTo>
                  <a:pt x="0" y="313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9" name="TextBox 9"/>
          <p:cNvSpPr txBox="1"/>
          <p:nvPr/>
        </p:nvSpPr>
        <p:spPr>
          <a:xfrm>
            <a:off x="2207558" y="5439912"/>
            <a:ext cx="6030316" cy="165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999" u="sng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  <a:hlinkClick r:id="rId3" tooltip="https://github.com/carlafrancohdz/quiz_historia.py.git"/>
              </a:rPr>
              <a:t>HTTPS://GITHUB.COM/CARLAFRANCOHDZ/QUIZ_HISTORIA.PY.GIT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114425"/>
            <a:ext cx="16102655" cy="2119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78"/>
              </a:lnSpc>
              <a:spcBef>
                <a:spcPct val="0"/>
              </a:spcBef>
            </a:pPr>
            <a:r>
              <a:rPr lang="en-US" sz="7664" spc="-76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DEMOSTRACIÓN EN VIVO DEL QUIZZ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8348" y="3486314"/>
            <a:ext cx="19066429" cy="6392394"/>
            <a:chOff x="0" y="0"/>
            <a:chExt cx="5052237" cy="16835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2237" cy="1683594"/>
            </a:xfrm>
            <a:custGeom>
              <a:avLst/>
              <a:gdLst/>
              <a:ahLst/>
              <a:cxnLst/>
              <a:rect l="l" t="t" r="r" b="b"/>
              <a:pathLst>
                <a:path w="5052237" h="1683594">
                  <a:moveTo>
                    <a:pt x="0" y="0"/>
                  </a:moveTo>
                  <a:lnTo>
                    <a:pt x="5052237" y="0"/>
                  </a:lnTo>
                  <a:lnTo>
                    <a:pt x="5052237" y="1683594"/>
                  </a:lnTo>
                  <a:lnTo>
                    <a:pt x="0" y="1683594"/>
                  </a:lnTo>
                  <a:close/>
                </a:path>
              </a:pathLst>
            </a:custGeom>
            <a:solidFill>
              <a:srgbClr val="8EBFE3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052237" cy="1702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900201" y="0"/>
            <a:ext cx="787880" cy="10287000"/>
            <a:chOff x="0" y="0"/>
            <a:chExt cx="107860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860" cy="2709333"/>
            </a:xfrm>
            <a:custGeom>
              <a:avLst/>
              <a:gdLst/>
              <a:ahLst/>
              <a:cxnLst/>
              <a:rect l="l" t="t" r="r" b="b"/>
              <a:pathLst>
                <a:path w="107860" h="2709333">
                  <a:moveTo>
                    <a:pt x="0" y="0"/>
                  </a:moveTo>
                  <a:lnTo>
                    <a:pt x="107860" y="0"/>
                  </a:lnTo>
                  <a:lnTo>
                    <a:pt x="1078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A9A9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07860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78348" y="0"/>
            <a:ext cx="787880" cy="10287000"/>
            <a:chOff x="0" y="0"/>
            <a:chExt cx="107860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860" cy="2709333"/>
            </a:xfrm>
            <a:custGeom>
              <a:avLst/>
              <a:gdLst/>
              <a:ahLst/>
              <a:cxnLst/>
              <a:rect l="l" t="t" r="r" b="b"/>
              <a:pathLst>
                <a:path w="107860" h="2709333">
                  <a:moveTo>
                    <a:pt x="0" y="0"/>
                  </a:moveTo>
                  <a:lnTo>
                    <a:pt x="107860" y="0"/>
                  </a:lnTo>
                  <a:lnTo>
                    <a:pt x="1078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A9A9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07860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95036" y="4755184"/>
            <a:ext cx="8395110" cy="2098778"/>
          </a:xfrm>
          <a:custGeom>
            <a:avLst/>
            <a:gdLst/>
            <a:ahLst/>
            <a:cxnLst/>
            <a:rect l="l" t="t" r="r" b="b"/>
            <a:pathLst>
              <a:path w="8395110" h="2098778">
                <a:moveTo>
                  <a:pt x="0" y="0"/>
                </a:moveTo>
                <a:lnTo>
                  <a:pt x="8395110" y="0"/>
                </a:lnTo>
                <a:lnTo>
                  <a:pt x="8395110" y="2098777"/>
                </a:lnTo>
                <a:lnTo>
                  <a:pt x="0" y="209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2" name="Freeform 12"/>
          <p:cNvSpPr/>
          <p:nvPr/>
        </p:nvSpPr>
        <p:spPr>
          <a:xfrm>
            <a:off x="4792591" y="7073036"/>
            <a:ext cx="12466709" cy="2072590"/>
          </a:xfrm>
          <a:custGeom>
            <a:avLst/>
            <a:gdLst/>
            <a:ahLst/>
            <a:cxnLst/>
            <a:rect l="l" t="t" r="r" b="b"/>
            <a:pathLst>
              <a:path w="12466709" h="2072590">
                <a:moveTo>
                  <a:pt x="0" y="0"/>
                </a:moveTo>
                <a:lnTo>
                  <a:pt x="12466709" y="0"/>
                </a:lnTo>
                <a:lnTo>
                  <a:pt x="12466709" y="2072591"/>
                </a:lnTo>
                <a:lnTo>
                  <a:pt x="0" y="2072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3" name="TextBox 13"/>
          <p:cNvSpPr txBox="1"/>
          <p:nvPr/>
        </p:nvSpPr>
        <p:spPr>
          <a:xfrm>
            <a:off x="595036" y="3973830"/>
            <a:ext cx="7746222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999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SUJETO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66671" y="1114425"/>
            <a:ext cx="11954658" cy="212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78"/>
              </a:lnSpc>
              <a:spcBef>
                <a:spcPct val="0"/>
              </a:spcBef>
            </a:pPr>
            <a:r>
              <a:rPr lang="en-US" sz="7664" spc="-76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RESULTADOS DE PRUEBAS DE 2 SUJETOS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13078" y="6288176"/>
            <a:ext cx="7746222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319"/>
              </a:lnSpc>
              <a:spcBef>
                <a:spcPct val="0"/>
              </a:spcBef>
            </a:pPr>
            <a:r>
              <a:rPr lang="en-US" sz="3999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SUJETO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1" y="4014759"/>
            <a:ext cx="17259300" cy="4924492"/>
            <a:chOff x="0" y="0"/>
            <a:chExt cx="4681656" cy="1296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656" cy="1296985"/>
            </a:xfrm>
            <a:custGeom>
              <a:avLst/>
              <a:gdLst/>
              <a:ahLst/>
              <a:cxnLst/>
              <a:rect l="l" t="t" r="r" b="b"/>
              <a:pathLst>
                <a:path w="4681656" h="1296985">
                  <a:moveTo>
                    <a:pt x="0" y="0"/>
                  </a:moveTo>
                  <a:lnTo>
                    <a:pt x="4681656" y="0"/>
                  </a:lnTo>
                  <a:lnTo>
                    <a:pt x="4681656" y="1296985"/>
                  </a:lnTo>
                  <a:lnTo>
                    <a:pt x="0" y="1296985"/>
                  </a:lnTo>
                  <a:close/>
                </a:path>
              </a:pathLst>
            </a:custGeom>
            <a:solidFill>
              <a:srgbClr val="8EBFE3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681656" cy="1316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42173" y="5479126"/>
            <a:ext cx="6388631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El proyecto permitió uniar la programación con la investigación histórica, aplicando condicionales, bucles y validaciones para crear un quizz. Se cumplió el objetivo de reforzar conocimientos sobre la Segunda Guerra Mundial de manera práctica y dinámica.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42173" y="4577715"/>
            <a:ext cx="7746222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999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114425"/>
            <a:ext cx="11954658" cy="2119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78"/>
              </a:lnSpc>
              <a:spcBef>
                <a:spcPct val="0"/>
              </a:spcBef>
            </a:pPr>
            <a:r>
              <a:rPr lang="en-US" sz="7664" spc="-76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CONCLUSIONES Y MEJORAS FUTURAS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900201" y="0"/>
            <a:ext cx="409532" cy="10287000"/>
            <a:chOff x="0" y="0"/>
            <a:chExt cx="107860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860" cy="2709333"/>
            </a:xfrm>
            <a:custGeom>
              <a:avLst/>
              <a:gdLst/>
              <a:ahLst/>
              <a:cxnLst/>
              <a:rect l="l" t="t" r="r" b="b"/>
              <a:pathLst>
                <a:path w="107860" h="2709333">
                  <a:moveTo>
                    <a:pt x="0" y="0"/>
                  </a:moveTo>
                  <a:lnTo>
                    <a:pt x="107860" y="0"/>
                  </a:lnTo>
                  <a:lnTo>
                    <a:pt x="1078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A9A9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07860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513078" y="4577715"/>
            <a:ext cx="7746222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319"/>
              </a:lnSpc>
              <a:spcBef>
                <a:spcPct val="0"/>
              </a:spcBef>
            </a:pPr>
            <a:r>
              <a:rPr lang="en-US" sz="3999" spc="-39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MEJORAS FUTURAS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49721" y="5402299"/>
            <a:ext cx="6409579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2499">
                <a:solidFill>
                  <a:srgbClr val="02192A"/>
                </a:solidFill>
                <a:latin typeface="Open Sauce"/>
                <a:ea typeface="Open Sauce"/>
                <a:cs typeface="Open Sauce"/>
                <a:sym typeface="Open Sauce"/>
              </a:rPr>
              <a:t>Como proyecto, el quizz podría mejorar preguntas de diferentes niveles de dificultad. Además, se podrian guardar los resultados en un archivo  para dar seguimiento al desempeño de los usuarios.</a:t>
            </a:r>
          </a:p>
          <a:p>
            <a:pPr algn="r">
              <a:lnSpc>
                <a:spcPts val="2999"/>
              </a:lnSpc>
              <a:spcBef>
                <a:spcPct val="0"/>
              </a:spcBef>
            </a:pPr>
            <a:endParaRPr lang="en-US" sz="2499">
              <a:solidFill>
                <a:srgbClr val="02192A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200900"/>
            <a:ext cx="18288000" cy="3086100"/>
            <a:chOff x="0" y="0"/>
            <a:chExt cx="481659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EBFE3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5172" y="1193785"/>
            <a:ext cx="15245311" cy="7808181"/>
            <a:chOff x="0" y="0"/>
            <a:chExt cx="4015226" cy="20564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15226" cy="2056476"/>
            </a:xfrm>
            <a:custGeom>
              <a:avLst/>
              <a:gdLst/>
              <a:ahLst/>
              <a:cxnLst/>
              <a:rect l="l" t="t" r="r" b="b"/>
              <a:pathLst>
                <a:path w="4015226" h="2056476">
                  <a:moveTo>
                    <a:pt x="0" y="0"/>
                  </a:moveTo>
                  <a:lnTo>
                    <a:pt x="4015226" y="0"/>
                  </a:lnTo>
                  <a:lnTo>
                    <a:pt x="4015226" y="2056476"/>
                  </a:lnTo>
                  <a:lnTo>
                    <a:pt x="0" y="2056476"/>
                  </a:lnTo>
                  <a:close/>
                </a:path>
              </a:pathLst>
            </a:custGeom>
            <a:solidFill>
              <a:srgbClr val="E8E5E0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4015226" cy="2075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43538" y="1193785"/>
            <a:ext cx="4826945" cy="7808181"/>
            <a:chOff x="0" y="0"/>
            <a:chExt cx="747820" cy="12096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7820" cy="1209692"/>
            </a:xfrm>
            <a:custGeom>
              <a:avLst/>
              <a:gdLst/>
              <a:ahLst/>
              <a:cxnLst/>
              <a:rect l="l" t="t" r="r" b="b"/>
              <a:pathLst>
                <a:path w="747820" h="1209692">
                  <a:moveTo>
                    <a:pt x="0" y="0"/>
                  </a:moveTo>
                  <a:lnTo>
                    <a:pt x="747820" y="0"/>
                  </a:lnTo>
                  <a:lnTo>
                    <a:pt x="747820" y="1209692"/>
                  </a:lnTo>
                  <a:lnTo>
                    <a:pt x="0" y="1209692"/>
                  </a:lnTo>
                  <a:close/>
                </a:path>
              </a:pathLst>
            </a:custGeom>
            <a:blipFill>
              <a:blip r:embed="rId2"/>
              <a:stretch>
                <a:fillRect l="-53431" r="-134146"/>
              </a:stretch>
            </a:blipFill>
          </p:spPr>
          <p:txBody>
            <a:bodyPr/>
            <a:lstStyle/>
            <a:p>
              <a:endParaRPr lang="es-ES_tradn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375090" y="4162425"/>
            <a:ext cx="8257754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1" spc="-74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GRACIAS POR </a:t>
            </a:r>
          </a:p>
          <a:p>
            <a:pPr marL="0" lvl="0" indent="0" algn="l">
              <a:lnSpc>
                <a:spcPts val="8099"/>
              </a:lnSpc>
              <a:spcBef>
                <a:spcPct val="0"/>
              </a:spcBef>
            </a:pPr>
            <a:r>
              <a:rPr lang="en-US" sz="7499" b="1" spc="-74">
                <a:solidFill>
                  <a:srgbClr val="0219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434</Words>
  <Application>Microsoft Macintosh PowerPoint</Application>
  <PresentationFormat>Personalizado</PresentationFormat>
  <Paragraphs>61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Open Sauce Bold</vt:lpstr>
      <vt:lpstr>League Spartan</vt:lpstr>
      <vt:lpstr>Open Sauce</vt:lpstr>
      <vt:lpstr>Calibri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quizz SEGUNDA GUERRA MUNDIAL</dc:title>
  <cp:lastModifiedBy>Carla Franco Hernandez</cp:lastModifiedBy>
  <cp:revision>2</cp:revision>
  <dcterms:created xsi:type="dcterms:W3CDTF">2006-08-16T00:00:00Z</dcterms:created>
  <dcterms:modified xsi:type="dcterms:W3CDTF">2025-09-24T03:21:09Z</dcterms:modified>
  <dc:identifier>DAGz1tZMCVk</dc:identifier>
</cp:coreProperties>
</file>